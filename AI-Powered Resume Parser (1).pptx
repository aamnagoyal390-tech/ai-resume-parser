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34D5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134D5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34D5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34D5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34D5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34D5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3099"/>
            <a:ext cx="74930" cy="4837430"/>
          </a:xfrm>
          <a:custGeom>
            <a:avLst/>
            <a:gdLst/>
            <a:ahLst/>
            <a:cxnLst/>
            <a:rect l="l" t="t" r="r" b="b"/>
            <a:pathLst>
              <a:path w="74930" h="4837430">
                <a:moveTo>
                  <a:pt x="74699" y="4837199"/>
                </a:moveTo>
                <a:lnTo>
                  <a:pt x="0" y="4837199"/>
                </a:lnTo>
                <a:lnTo>
                  <a:pt x="0" y="0"/>
                </a:lnTo>
                <a:lnTo>
                  <a:pt x="74699" y="0"/>
                </a:lnTo>
                <a:lnTo>
                  <a:pt x="74699" y="4837199"/>
                </a:lnTo>
                <a:close/>
              </a:path>
            </a:pathLst>
          </a:custGeom>
          <a:solidFill>
            <a:srgbClr val="3EA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24575" y="507889"/>
            <a:ext cx="3846829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34D5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24575" y="1120215"/>
            <a:ext cx="3828415" cy="3069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134D5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902575" y="0"/>
            <a:ext cx="4241800" cy="5143500"/>
            <a:chOff x="4902575" y="0"/>
            <a:chExt cx="42418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4902575" y="153099"/>
              <a:ext cx="74930" cy="4837430"/>
            </a:xfrm>
            <a:custGeom>
              <a:avLst/>
              <a:gdLst/>
              <a:ahLst/>
              <a:cxnLst/>
              <a:rect l="l" t="t" r="r" b="b"/>
              <a:pathLst>
                <a:path w="74929" h="4837430">
                  <a:moveTo>
                    <a:pt x="74699" y="4837199"/>
                  </a:moveTo>
                  <a:lnTo>
                    <a:pt x="0" y="4837199"/>
                  </a:lnTo>
                  <a:lnTo>
                    <a:pt x="0" y="0"/>
                  </a:lnTo>
                  <a:lnTo>
                    <a:pt x="74699" y="0"/>
                  </a:lnTo>
                  <a:lnTo>
                    <a:pt x="74699" y="4837199"/>
                  </a:lnTo>
                  <a:close/>
                </a:path>
              </a:pathLst>
            </a:custGeom>
            <a:solidFill>
              <a:srgbClr val="3EABC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7275" y="0"/>
              <a:ext cx="4166699" cy="514350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9275" y="586264"/>
            <a:ext cx="360807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Project</a:t>
            </a:r>
            <a:r>
              <a:rPr dirty="0" spc="-75"/>
              <a:t> </a:t>
            </a:r>
            <a:r>
              <a:rPr dirty="0" spc="-110"/>
              <a:t>Overview:</a:t>
            </a:r>
            <a:r>
              <a:rPr dirty="0" spc="-100"/>
              <a:t> </a:t>
            </a:r>
            <a:r>
              <a:rPr dirty="0" spc="-160"/>
              <a:t>AI-</a:t>
            </a:r>
            <a:r>
              <a:rPr dirty="0" spc="-80"/>
              <a:t>Powered </a:t>
            </a:r>
            <a:r>
              <a:rPr dirty="0" spc="-90"/>
              <a:t>Resume</a:t>
            </a:r>
            <a:r>
              <a:rPr dirty="0" spc="-25"/>
              <a:t> </a:t>
            </a:r>
            <a:r>
              <a:rPr dirty="0" spc="-10"/>
              <a:t>Parser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39275" y="1425015"/>
            <a:ext cx="3744595" cy="2298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This 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project</a:t>
            </a:r>
            <a:r>
              <a:rPr dirty="0" sz="1100" spc="6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automates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resume</a:t>
            </a:r>
            <a:r>
              <a:rPr dirty="0" sz="1100" spc="6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data</a:t>
            </a:r>
            <a:r>
              <a:rPr dirty="0" sz="1100" spc="6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extraction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using</a:t>
            </a:r>
            <a:r>
              <a:rPr dirty="0" sz="1100" spc="6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134D57"/>
                </a:solidFill>
                <a:latin typeface="Tahoma"/>
                <a:cs typeface="Tahoma"/>
              </a:rPr>
              <a:t>AI, 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streamlining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recruitment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134D57"/>
                </a:solidFill>
                <a:latin typeface="Tahoma"/>
                <a:cs typeface="Tahoma"/>
              </a:rPr>
              <a:t>processes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and</a:t>
            </a:r>
            <a:r>
              <a:rPr dirty="0" sz="1100" spc="6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providing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real-time</a:t>
            </a:r>
            <a:r>
              <a:rPr dirty="0" sz="1100" spc="32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insights.</a:t>
            </a:r>
            <a:endParaRPr sz="1100">
              <a:latin typeface="Tahoma"/>
              <a:cs typeface="Tahoma"/>
            </a:endParaRPr>
          </a:p>
          <a:p>
            <a:pPr marL="469900" marR="266065" indent="-313055">
              <a:lnSpc>
                <a:spcPct val="114999"/>
              </a:lnSpc>
              <a:spcBef>
                <a:spcPts val="1200"/>
              </a:spcBef>
              <a:buClr>
                <a:srgbClr val="F9734D"/>
              </a:buClr>
              <a:buFont typeface="Tahoma"/>
              <a:buChar char="●"/>
              <a:tabLst>
                <a:tab pos="469900" algn="l"/>
              </a:tabLst>
            </a:pPr>
            <a:r>
              <a:rPr dirty="0" sz="1100" spc="-10" b="1">
                <a:solidFill>
                  <a:srgbClr val="134D57"/>
                </a:solidFill>
                <a:latin typeface="Tahoma"/>
                <a:cs typeface="Tahoma"/>
              </a:rPr>
              <a:t>Purpose: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To</a:t>
            </a:r>
            <a:r>
              <a:rPr dirty="0" sz="1100" spc="-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efficiently</a:t>
            </a:r>
            <a:r>
              <a:rPr dirty="0" sz="1100" spc="-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convert</a:t>
            </a:r>
            <a:r>
              <a:rPr dirty="0" sz="1100" spc="-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unstructured 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resume</a:t>
            </a:r>
            <a:r>
              <a:rPr dirty="0" sz="1100" spc="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data</a:t>
            </a:r>
            <a:r>
              <a:rPr dirty="0" sz="1100" spc="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into</a:t>
            </a:r>
            <a:r>
              <a:rPr dirty="0" sz="1100" spc="4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a</a:t>
            </a:r>
            <a:r>
              <a:rPr dirty="0" sz="1100" spc="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structured,</a:t>
            </a:r>
            <a:r>
              <a:rPr dirty="0" sz="1100" spc="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usable</a:t>
            </a:r>
            <a:r>
              <a:rPr dirty="0" sz="1100" spc="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format.</a:t>
            </a:r>
            <a:endParaRPr sz="1100">
              <a:latin typeface="Tahoma"/>
              <a:cs typeface="Tahoma"/>
            </a:endParaRPr>
          </a:p>
          <a:p>
            <a:pPr marL="469900" marR="56515" indent="-313055">
              <a:lnSpc>
                <a:spcPct val="114999"/>
              </a:lnSpc>
              <a:buClr>
                <a:srgbClr val="F9734D"/>
              </a:buClr>
              <a:buFont typeface="Tahoma"/>
              <a:buChar char="●"/>
              <a:tabLst>
                <a:tab pos="469900" algn="l"/>
              </a:tabLst>
            </a:pPr>
            <a:r>
              <a:rPr dirty="0" sz="1100" spc="-40" b="1">
                <a:solidFill>
                  <a:srgbClr val="134D57"/>
                </a:solidFill>
                <a:latin typeface="Tahoma"/>
                <a:cs typeface="Tahoma"/>
              </a:rPr>
              <a:t>Importance:</a:t>
            </a:r>
            <a:r>
              <a:rPr dirty="0" sz="1100" spc="45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Enables</a:t>
            </a:r>
            <a:r>
              <a:rPr dirty="0" sz="1100" spc="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rapid</a:t>
            </a:r>
            <a:r>
              <a:rPr dirty="0" sz="1100" spc="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candidate</a:t>
            </a:r>
            <a:r>
              <a:rPr dirty="0" sz="1100" spc="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0">
                <a:solidFill>
                  <a:srgbClr val="134D57"/>
                </a:solidFill>
                <a:latin typeface="Tahoma"/>
                <a:cs typeface="Tahoma"/>
              </a:rPr>
              <a:t>screening,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improves</a:t>
            </a:r>
            <a:r>
              <a:rPr dirty="0" sz="1100" spc="-1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data</a:t>
            </a:r>
            <a:r>
              <a:rPr dirty="0" sz="1100" spc="-1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accuracy,</a:t>
            </a:r>
            <a:r>
              <a:rPr dirty="0" sz="1100" spc="-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and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accelerates 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recruitment</a:t>
            </a:r>
            <a:r>
              <a:rPr dirty="0" sz="1100" spc="14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0">
                <a:solidFill>
                  <a:srgbClr val="134D57"/>
                </a:solidFill>
                <a:latin typeface="Tahoma"/>
                <a:cs typeface="Tahoma"/>
              </a:rPr>
              <a:t>workflows.</a:t>
            </a:r>
            <a:endParaRPr sz="1100">
              <a:latin typeface="Tahoma"/>
              <a:cs typeface="Tahoma"/>
            </a:endParaRPr>
          </a:p>
          <a:p>
            <a:pPr algn="just" marL="469900" marR="57150" indent="-313055">
              <a:lnSpc>
                <a:spcPct val="114999"/>
              </a:lnSpc>
              <a:buFont typeface="Tahoma"/>
              <a:buChar char="●"/>
              <a:tabLst>
                <a:tab pos="469900" algn="l"/>
                <a:tab pos="473075" algn="l"/>
              </a:tabLst>
            </a:pPr>
            <a:r>
              <a:rPr dirty="0" sz="1100">
                <a:solidFill>
                  <a:srgbClr val="F9734D"/>
                </a:solidFill>
                <a:latin typeface="Tahoma"/>
                <a:cs typeface="Tahoma"/>
              </a:rPr>
              <a:t>	</a:t>
            </a:r>
            <a:r>
              <a:rPr dirty="0" sz="1100" spc="-20" b="1">
                <a:solidFill>
                  <a:srgbClr val="134D57"/>
                </a:solidFill>
                <a:latin typeface="Tahoma"/>
                <a:cs typeface="Tahoma"/>
              </a:rPr>
              <a:t>Benefits:</a:t>
            </a:r>
            <a:r>
              <a:rPr dirty="0" sz="1100" spc="95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Reduces</a:t>
            </a:r>
            <a:r>
              <a:rPr dirty="0" sz="1100" spc="7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manual</a:t>
            </a:r>
            <a:r>
              <a:rPr dirty="0" sz="1100" spc="7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data</a:t>
            </a:r>
            <a:r>
              <a:rPr dirty="0" sz="1100" spc="7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entry,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enhances 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analytical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capabilities,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and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supports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data-</a:t>
            </a:r>
            <a:r>
              <a:rPr dirty="0" sz="1100" spc="40">
                <a:solidFill>
                  <a:srgbClr val="134D57"/>
                </a:solidFill>
                <a:latin typeface="Tahoma"/>
                <a:cs typeface="Tahoma"/>
              </a:rPr>
              <a:t>driven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decision-</a:t>
            </a:r>
            <a:r>
              <a:rPr dirty="0" sz="1100" spc="65">
                <a:solidFill>
                  <a:srgbClr val="134D57"/>
                </a:solidFill>
                <a:latin typeface="Tahoma"/>
                <a:cs typeface="Tahoma"/>
              </a:rPr>
              <a:t>making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in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134D57"/>
                </a:solidFill>
                <a:latin typeface="Tahoma"/>
                <a:cs typeface="Tahoma"/>
              </a:rPr>
              <a:t>HR.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166699" cy="51435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Document</a:t>
            </a:r>
            <a:r>
              <a:rPr dirty="0" spc="-50"/>
              <a:t> </a:t>
            </a:r>
            <a:r>
              <a:rPr dirty="0" spc="-55"/>
              <a:t>Upload</a:t>
            </a:r>
            <a:r>
              <a:rPr dirty="0" spc="-45"/>
              <a:t> </a:t>
            </a:r>
            <a:r>
              <a:rPr dirty="0" spc="-395"/>
              <a:t>&amp;</a:t>
            </a:r>
            <a:r>
              <a:rPr dirty="0" spc="-50"/>
              <a:t> </a:t>
            </a:r>
            <a:r>
              <a:rPr dirty="0" spc="-10"/>
              <a:t>Processing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724575" y="1120215"/>
            <a:ext cx="3808095" cy="1913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77825">
              <a:lnSpc>
                <a:spcPct val="114999"/>
              </a:lnSpc>
              <a:spcBef>
                <a:spcPts val="100"/>
              </a:spcBef>
            </a:pP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The</a:t>
            </a:r>
            <a:r>
              <a:rPr dirty="0" sz="1100" spc="-2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system</a:t>
            </a:r>
            <a:r>
              <a:rPr dirty="0" sz="1100" spc="-1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supports</a:t>
            </a:r>
            <a:r>
              <a:rPr dirty="0" sz="1100" spc="-1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a</a:t>
            </a:r>
            <a:r>
              <a:rPr dirty="0" sz="1100" spc="-2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variety</a:t>
            </a:r>
            <a:r>
              <a:rPr dirty="0" sz="1100" spc="-1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of</a:t>
            </a:r>
            <a:r>
              <a:rPr dirty="0" sz="1100" spc="-1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input</a:t>
            </a:r>
            <a:r>
              <a:rPr dirty="0" sz="1100" spc="-2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formats</a:t>
            </a:r>
            <a:r>
              <a:rPr dirty="0" sz="1100" spc="-1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134D57"/>
                </a:solidFill>
                <a:latin typeface="Tahoma"/>
                <a:cs typeface="Tahoma"/>
              </a:rPr>
              <a:t>and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incorporates</a:t>
            </a:r>
            <a:r>
              <a:rPr dirty="0" sz="1100" spc="1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134D57"/>
                </a:solidFill>
                <a:latin typeface="Tahoma"/>
                <a:cs typeface="Tahoma"/>
              </a:rPr>
              <a:t>rigorous</a:t>
            </a:r>
            <a:r>
              <a:rPr dirty="0" sz="1100" spc="1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134D57"/>
                </a:solidFill>
                <a:latin typeface="Tahoma"/>
                <a:cs typeface="Tahoma"/>
              </a:rPr>
              <a:t>validation</a:t>
            </a:r>
            <a:r>
              <a:rPr dirty="0" sz="1100" spc="1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checks.</a:t>
            </a:r>
            <a:endParaRPr sz="1100">
              <a:latin typeface="Tahoma"/>
              <a:cs typeface="Tahoma"/>
            </a:endParaRPr>
          </a:p>
          <a:p>
            <a:pPr marL="469900" marR="130810" indent="-313055">
              <a:lnSpc>
                <a:spcPct val="114999"/>
              </a:lnSpc>
              <a:spcBef>
                <a:spcPts val="1200"/>
              </a:spcBef>
              <a:buClr>
                <a:srgbClr val="F9734D"/>
              </a:buClr>
              <a:buFont typeface="Tahoma"/>
              <a:buChar char="●"/>
              <a:tabLst>
                <a:tab pos="469900" algn="l"/>
              </a:tabLst>
            </a:pPr>
            <a:r>
              <a:rPr dirty="0" sz="1100" spc="-20" b="1">
                <a:solidFill>
                  <a:srgbClr val="134D57"/>
                </a:solidFill>
                <a:latin typeface="Tahoma"/>
                <a:cs typeface="Tahoma"/>
              </a:rPr>
              <a:t>Supported</a:t>
            </a:r>
            <a:r>
              <a:rPr dirty="0" sz="1100" spc="5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25" b="1">
                <a:solidFill>
                  <a:srgbClr val="134D57"/>
                </a:solidFill>
                <a:latin typeface="Tahoma"/>
                <a:cs typeface="Tahoma"/>
              </a:rPr>
              <a:t>Formats:</a:t>
            </a:r>
            <a:r>
              <a:rPr dirty="0" sz="1100" spc="45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PDF,</a:t>
            </a:r>
            <a:r>
              <a:rPr dirty="0" sz="1100" spc="1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65">
                <a:solidFill>
                  <a:srgbClr val="134D57"/>
                </a:solidFill>
                <a:latin typeface="Tahoma"/>
                <a:cs typeface="Tahoma"/>
              </a:rPr>
              <a:t>DOCX,</a:t>
            </a:r>
            <a:r>
              <a:rPr dirty="0" sz="1100" spc="1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TXT,</a:t>
            </a:r>
            <a:r>
              <a:rPr dirty="0" sz="1100" spc="1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65">
                <a:solidFill>
                  <a:srgbClr val="134D57"/>
                </a:solidFill>
                <a:latin typeface="Tahoma"/>
                <a:cs typeface="Tahoma"/>
              </a:rPr>
              <a:t>JPG/PNG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(with</a:t>
            </a:r>
            <a:r>
              <a:rPr dirty="0" sz="1100" spc="7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OCR).</a:t>
            </a:r>
            <a:endParaRPr sz="1100">
              <a:latin typeface="Tahoma"/>
              <a:cs typeface="Tahoma"/>
            </a:endParaRPr>
          </a:p>
          <a:p>
            <a:pPr marL="469265" indent="-312420">
              <a:lnSpc>
                <a:spcPct val="100000"/>
              </a:lnSpc>
              <a:spcBef>
                <a:spcPts val="195"/>
              </a:spcBef>
              <a:buClr>
                <a:srgbClr val="F9734D"/>
              </a:buClr>
              <a:buFont typeface="Arial"/>
              <a:buChar char="●"/>
              <a:tabLst>
                <a:tab pos="469265" algn="l"/>
              </a:tabLst>
            </a:pPr>
            <a:r>
              <a:rPr dirty="0" sz="1100" spc="-35" b="1">
                <a:solidFill>
                  <a:srgbClr val="134D57"/>
                </a:solidFill>
                <a:latin typeface="Tahoma"/>
                <a:cs typeface="Tahoma"/>
              </a:rPr>
              <a:t>Validation</a:t>
            </a:r>
            <a:r>
              <a:rPr dirty="0" sz="1100" spc="10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4D57"/>
                </a:solidFill>
                <a:latin typeface="Tahoma"/>
                <a:cs typeface="Tahoma"/>
              </a:rPr>
              <a:t>Features:</a:t>
            </a:r>
            <a:endParaRPr sz="1100">
              <a:latin typeface="Tahoma"/>
              <a:cs typeface="Tahoma"/>
            </a:endParaRPr>
          </a:p>
          <a:p>
            <a:pPr lvl="1" marL="926465" indent="-312420">
              <a:lnSpc>
                <a:spcPct val="100000"/>
              </a:lnSpc>
              <a:spcBef>
                <a:spcPts val="200"/>
              </a:spcBef>
              <a:buClr>
                <a:srgbClr val="F9734D"/>
              </a:buClr>
              <a:buChar char="○"/>
              <a:tabLst>
                <a:tab pos="926465" algn="l"/>
              </a:tabLst>
            </a:pP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File</a:t>
            </a:r>
            <a:r>
              <a:rPr dirty="0" sz="1100" spc="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134D57"/>
                </a:solidFill>
                <a:latin typeface="Tahoma"/>
                <a:cs typeface="Tahoma"/>
              </a:rPr>
              <a:t>size</a:t>
            </a:r>
            <a:r>
              <a:rPr dirty="0" sz="1100" spc="4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limit</a:t>
            </a:r>
            <a:r>
              <a:rPr dirty="0" sz="1100" spc="4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(e.g.,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10MB).</a:t>
            </a:r>
            <a:endParaRPr sz="1100">
              <a:latin typeface="Tahoma"/>
              <a:cs typeface="Tahoma"/>
            </a:endParaRPr>
          </a:p>
          <a:p>
            <a:pPr lvl="1" marL="926465" indent="-312420">
              <a:lnSpc>
                <a:spcPct val="100000"/>
              </a:lnSpc>
              <a:spcBef>
                <a:spcPts val="200"/>
              </a:spcBef>
              <a:buClr>
                <a:srgbClr val="F9734D"/>
              </a:buClr>
              <a:buChar char="○"/>
              <a:tabLst>
                <a:tab pos="926465" algn="l"/>
              </a:tabLst>
            </a:pP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Malware</a:t>
            </a:r>
            <a:r>
              <a:rPr dirty="0" sz="1100" spc="-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scanning</a:t>
            </a:r>
            <a:r>
              <a:rPr dirty="0" sz="1100" spc="-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using</a:t>
            </a:r>
            <a:r>
              <a:rPr dirty="0" sz="1100" spc="-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ClamAV</a:t>
            </a:r>
            <a:r>
              <a:rPr dirty="0" sz="1100" spc="-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or</a:t>
            </a:r>
            <a:r>
              <a:rPr dirty="0" sz="1100" spc="-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similar.</a:t>
            </a:r>
            <a:endParaRPr sz="1100">
              <a:latin typeface="Tahoma"/>
              <a:cs typeface="Tahoma"/>
            </a:endParaRPr>
          </a:p>
          <a:p>
            <a:pPr lvl="1" marL="927100" marR="56515" indent="-313055">
              <a:lnSpc>
                <a:spcPct val="114999"/>
              </a:lnSpc>
              <a:buClr>
                <a:srgbClr val="F9734D"/>
              </a:buClr>
              <a:buChar char="○"/>
              <a:tabLst>
                <a:tab pos="927100" algn="l"/>
              </a:tabLst>
            </a:pP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Format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verification</a:t>
            </a:r>
            <a:r>
              <a:rPr dirty="0" sz="1100" spc="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to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ensure</a:t>
            </a:r>
            <a:r>
              <a:rPr dirty="0" sz="1100" spc="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compatibility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and</a:t>
            </a:r>
            <a:r>
              <a:rPr dirty="0" sz="1100" spc="8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prevent</a:t>
            </a:r>
            <a:r>
              <a:rPr dirty="0" sz="1100" spc="8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0">
                <a:solidFill>
                  <a:srgbClr val="134D57"/>
                </a:solidFill>
                <a:latin typeface="Tahoma"/>
                <a:cs typeface="Tahoma"/>
              </a:rPr>
              <a:t>processingerrors.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902575" y="0"/>
            <a:ext cx="4241800" cy="5143500"/>
            <a:chOff x="4902575" y="0"/>
            <a:chExt cx="42418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4902575" y="153099"/>
              <a:ext cx="74930" cy="4837430"/>
            </a:xfrm>
            <a:custGeom>
              <a:avLst/>
              <a:gdLst/>
              <a:ahLst/>
              <a:cxnLst/>
              <a:rect l="l" t="t" r="r" b="b"/>
              <a:pathLst>
                <a:path w="74929" h="4837430">
                  <a:moveTo>
                    <a:pt x="74699" y="4837199"/>
                  </a:moveTo>
                  <a:lnTo>
                    <a:pt x="0" y="4837199"/>
                  </a:lnTo>
                  <a:lnTo>
                    <a:pt x="0" y="0"/>
                  </a:lnTo>
                  <a:lnTo>
                    <a:pt x="74699" y="0"/>
                  </a:lnTo>
                  <a:lnTo>
                    <a:pt x="74699" y="4837199"/>
                  </a:lnTo>
                  <a:close/>
                </a:path>
              </a:pathLst>
            </a:custGeom>
            <a:solidFill>
              <a:srgbClr val="3EABC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7275" y="0"/>
              <a:ext cx="4166699" cy="514350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9275" y="738664"/>
            <a:ext cx="3406775" cy="330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AI-</a:t>
            </a:r>
            <a:r>
              <a:rPr dirty="0" spc="-100"/>
              <a:t>Powered</a:t>
            </a:r>
            <a:r>
              <a:rPr dirty="0" spc="-50"/>
              <a:t> </a:t>
            </a:r>
            <a:r>
              <a:rPr dirty="0" spc="-75"/>
              <a:t>Data</a:t>
            </a:r>
            <a:r>
              <a:rPr dirty="0" spc="-45"/>
              <a:t> </a:t>
            </a:r>
            <a:r>
              <a:rPr dirty="0" spc="-10"/>
              <a:t>Extraction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39275" y="1425015"/>
            <a:ext cx="3463925" cy="2684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8590">
              <a:lnSpc>
                <a:spcPct val="114999"/>
              </a:lnSpc>
              <a:spcBef>
                <a:spcPts val="100"/>
              </a:spcBef>
            </a:pP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Leveraging </a:t>
            </a:r>
            <a:r>
              <a:rPr dirty="0" sz="1100" spc="75">
                <a:solidFill>
                  <a:srgbClr val="134D57"/>
                </a:solidFill>
                <a:latin typeface="Tahoma"/>
                <a:cs typeface="Tahoma"/>
              </a:rPr>
              <a:t>NLP</a:t>
            </a:r>
            <a:r>
              <a:rPr dirty="0" sz="1100" spc="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and</a:t>
            </a:r>
            <a:r>
              <a:rPr dirty="0" sz="1100" spc="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regex-</a:t>
            </a:r>
            <a:r>
              <a:rPr dirty="0" sz="1100" spc="75">
                <a:solidFill>
                  <a:srgbClr val="134D57"/>
                </a:solidFill>
                <a:latin typeface="Tahoma"/>
                <a:cs typeface="Tahoma"/>
              </a:rPr>
              <a:t>based</a:t>
            </a:r>
            <a:r>
              <a:rPr dirty="0" sz="1100" spc="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techniques,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134D57"/>
                </a:solidFill>
                <a:latin typeface="Tahoma"/>
                <a:cs typeface="Tahoma"/>
              </a:rPr>
              <a:t>the 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system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extracts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key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134D57"/>
                </a:solidFill>
                <a:latin typeface="Tahoma"/>
                <a:cs typeface="Tahoma"/>
              </a:rPr>
              <a:t>information</a:t>
            </a:r>
            <a:r>
              <a:rPr dirty="0" sz="1100" spc="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accurately.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Tahoma"/>
              <a:cs typeface="Tahoma"/>
            </a:endParaRPr>
          </a:p>
          <a:p>
            <a:pPr marL="469265" indent="-312420">
              <a:lnSpc>
                <a:spcPct val="100000"/>
              </a:lnSpc>
              <a:buClr>
                <a:srgbClr val="F9734D"/>
              </a:buClr>
              <a:buFont typeface="Arial"/>
              <a:buChar char="●"/>
              <a:tabLst>
                <a:tab pos="469265" algn="l"/>
              </a:tabLst>
            </a:pPr>
            <a:r>
              <a:rPr dirty="0" sz="1100" spc="-45" b="1">
                <a:solidFill>
                  <a:srgbClr val="134D57"/>
                </a:solidFill>
                <a:latin typeface="Tahoma"/>
                <a:cs typeface="Tahoma"/>
              </a:rPr>
              <a:t>Data</a:t>
            </a:r>
            <a:r>
              <a:rPr dirty="0" sz="1100" spc="-55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25" b="1">
                <a:solidFill>
                  <a:srgbClr val="134D57"/>
                </a:solidFill>
                <a:latin typeface="Tahoma"/>
                <a:cs typeface="Tahoma"/>
              </a:rPr>
              <a:t>Points</a:t>
            </a:r>
            <a:r>
              <a:rPr dirty="0" sz="1100" spc="-50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4D57"/>
                </a:solidFill>
                <a:latin typeface="Tahoma"/>
                <a:cs typeface="Tahoma"/>
              </a:rPr>
              <a:t>Extracted:</a:t>
            </a:r>
            <a:endParaRPr sz="1100">
              <a:latin typeface="Tahoma"/>
              <a:cs typeface="Tahoma"/>
            </a:endParaRPr>
          </a:p>
          <a:p>
            <a:pPr lvl="1" marL="927100" marR="106680" indent="-313055">
              <a:lnSpc>
                <a:spcPct val="114999"/>
              </a:lnSpc>
              <a:buClr>
                <a:srgbClr val="F9734D"/>
              </a:buClr>
              <a:buChar char="○"/>
              <a:tabLst>
                <a:tab pos="927100" algn="l"/>
              </a:tabLst>
            </a:pP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Contact</a:t>
            </a:r>
            <a:r>
              <a:rPr dirty="0" sz="1100" spc="11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Details:</a:t>
            </a:r>
            <a:r>
              <a:rPr dirty="0" sz="1100" spc="114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Name,</a:t>
            </a:r>
            <a:r>
              <a:rPr dirty="0" sz="1100" spc="10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email,</a:t>
            </a:r>
            <a:r>
              <a:rPr dirty="0" sz="1100" spc="10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phone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number,</a:t>
            </a:r>
            <a:r>
              <a:rPr dirty="0" sz="1100" spc="1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0">
                <a:solidFill>
                  <a:srgbClr val="134D57"/>
                </a:solidFill>
                <a:latin typeface="Tahoma"/>
                <a:cs typeface="Tahoma"/>
              </a:rPr>
              <a:t>address.</a:t>
            </a:r>
            <a:endParaRPr sz="1100">
              <a:latin typeface="Tahoma"/>
              <a:cs typeface="Tahoma"/>
            </a:endParaRPr>
          </a:p>
          <a:p>
            <a:pPr lvl="1" marL="927100" marR="5080" indent="-313055">
              <a:lnSpc>
                <a:spcPct val="114999"/>
              </a:lnSpc>
              <a:buClr>
                <a:srgbClr val="F9734D"/>
              </a:buClr>
              <a:buChar char="○"/>
              <a:tabLst>
                <a:tab pos="927100" algn="l"/>
              </a:tabLst>
            </a:pP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Work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Experience:</a:t>
            </a:r>
            <a:r>
              <a:rPr dirty="0" sz="1100" spc="6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95">
                <a:solidFill>
                  <a:srgbClr val="134D57"/>
                </a:solidFill>
                <a:latin typeface="Tahoma"/>
                <a:cs typeface="Tahoma"/>
              </a:rPr>
              <a:t>Job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titles,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 company </a:t>
            </a:r>
            <a:r>
              <a:rPr dirty="0" sz="1100" spc="10">
                <a:solidFill>
                  <a:srgbClr val="134D57"/>
                </a:solidFill>
                <a:latin typeface="Tahoma"/>
                <a:cs typeface="Tahoma"/>
              </a:rPr>
              <a:t>names,</a:t>
            </a:r>
            <a:r>
              <a:rPr dirty="0" sz="1100" spc="1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dates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of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employment, responsibilities.</a:t>
            </a:r>
            <a:endParaRPr sz="1100">
              <a:latin typeface="Tahoma"/>
              <a:cs typeface="Tahoma"/>
            </a:endParaRPr>
          </a:p>
          <a:p>
            <a:pPr lvl="1" marL="927100" marR="367665" indent="-313055">
              <a:lnSpc>
                <a:spcPct val="114999"/>
              </a:lnSpc>
              <a:buClr>
                <a:srgbClr val="F9734D"/>
              </a:buClr>
              <a:buChar char="○"/>
              <a:tabLst>
                <a:tab pos="927100" algn="l"/>
              </a:tabLst>
            </a:pPr>
            <a:r>
              <a:rPr dirty="0" sz="1100" spc="10">
                <a:solidFill>
                  <a:srgbClr val="134D57"/>
                </a:solidFill>
                <a:latin typeface="Tahoma"/>
                <a:cs typeface="Tahoma"/>
              </a:rPr>
              <a:t>Education:</a:t>
            </a:r>
            <a:r>
              <a:rPr dirty="0" sz="1100" spc="9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Degrees,</a:t>
            </a:r>
            <a:r>
              <a:rPr dirty="0" sz="1100" spc="8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institutions, </a:t>
            </a:r>
            <a:r>
              <a:rPr dirty="0" sz="1100" spc="10">
                <a:solidFill>
                  <a:srgbClr val="134D57"/>
                </a:solidFill>
                <a:latin typeface="Tahoma"/>
                <a:cs typeface="Tahoma"/>
              </a:rPr>
              <a:t>graduation</a:t>
            </a:r>
            <a:r>
              <a:rPr dirty="0" sz="1100" spc="22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dates.</a:t>
            </a:r>
            <a:endParaRPr sz="1100">
              <a:latin typeface="Tahoma"/>
              <a:cs typeface="Tahoma"/>
            </a:endParaRPr>
          </a:p>
          <a:p>
            <a:pPr lvl="1" marL="926465" indent="-312420">
              <a:lnSpc>
                <a:spcPct val="100000"/>
              </a:lnSpc>
              <a:spcBef>
                <a:spcPts val="195"/>
              </a:spcBef>
              <a:buClr>
                <a:srgbClr val="F9734D"/>
              </a:buClr>
              <a:buChar char="○"/>
              <a:tabLst>
                <a:tab pos="926465" algn="l"/>
              </a:tabLst>
            </a:pP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Skills: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Technical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and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soft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skills.</a:t>
            </a:r>
            <a:endParaRPr sz="1100">
              <a:latin typeface="Tahoma"/>
              <a:cs typeface="Tahoma"/>
            </a:endParaRPr>
          </a:p>
          <a:p>
            <a:pPr lvl="1" marL="927100" marR="142240" indent="-313055">
              <a:lnSpc>
                <a:spcPct val="114999"/>
              </a:lnSpc>
              <a:buClr>
                <a:srgbClr val="F9734D"/>
              </a:buClr>
              <a:buChar char="○"/>
              <a:tabLst>
                <a:tab pos="927100" algn="l"/>
              </a:tabLst>
            </a:pP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Professional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Summary: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Overview</a:t>
            </a:r>
            <a:r>
              <a:rPr dirty="0" sz="1100" spc="6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of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qualifications</a:t>
            </a:r>
            <a:r>
              <a:rPr dirty="0" sz="1100" spc="-5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and</a:t>
            </a:r>
            <a:r>
              <a:rPr dirty="0" sz="1100" spc="-4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career</a:t>
            </a:r>
            <a:r>
              <a:rPr dirty="0" sz="1100" spc="-4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goals.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166699" cy="51435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5"/>
              <a:t>AI</a:t>
            </a:r>
            <a:r>
              <a:rPr dirty="0" spc="-60"/>
              <a:t> </a:t>
            </a:r>
            <a:r>
              <a:rPr dirty="0" spc="-45"/>
              <a:t>Enhancement</a:t>
            </a:r>
            <a:r>
              <a:rPr dirty="0" spc="-60"/>
              <a:t> </a:t>
            </a:r>
            <a:r>
              <a:rPr dirty="0" spc="-35"/>
              <a:t>Features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163195">
              <a:lnSpc>
                <a:spcPct val="114999"/>
              </a:lnSpc>
              <a:spcBef>
                <a:spcPts val="100"/>
              </a:spcBef>
            </a:pPr>
            <a:r>
              <a:rPr dirty="0" spc="70"/>
              <a:t>Advanced </a:t>
            </a:r>
            <a:r>
              <a:rPr dirty="0"/>
              <a:t>AI</a:t>
            </a:r>
            <a:r>
              <a:rPr dirty="0" spc="70"/>
              <a:t> </a:t>
            </a:r>
            <a:r>
              <a:rPr dirty="0"/>
              <a:t>capabilities</a:t>
            </a:r>
            <a:r>
              <a:rPr dirty="0" spc="75"/>
              <a:t> </a:t>
            </a:r>
            <a:r>
              <a:rPr dirty="0" spc="50"/>
              <a:t>enrich</a:t>
            </a:r>
            <a:r>
              <a:rPr dirty="0" spc="70"/>
              <a:t> </a:t>
            </a:r>
            <a:r>
              <a:rPr dirty="0"/>
              <a:t>the</a:t>
            </a:r>
            <a:r>
              <a:rPr dirty="0" spc="75"/>
              <a:t> </a:t>
            </a:r>
            <a:r>
              <a:rPr dirty="0" spc="45"/>
              <a:t>extracted</a:t>
            </a:r>
            <a:r>
              <a:rPr dirty="0" spc="70"/>
              <a:t> </a:t>
            </a:r>
            <a:r>
              <a:rPr dirty="0"/>
              <a:t>data</a:t>
            </a:r>
            <a:r>
              <a:rPr dirty="0" spc="70"/>
              <a:t> </a:t>
            </a:r>
            <a:r>
              <a:rPr dirty="0" spc="-25"/>
              <a:t>and </a:t>
            </a:r>
            <a:r>
              <a:rPr dirty="0" spc="45"/>
              <a:t>provide</a:t>
            </a:r>
            <a:r>
              <a:rPr dirty="0" spc="-50"/>
              <a:t> </a:t>
            </a:r>
            <a:r>
              <a:rPr dirty="0" spc="55"/>
              <a:t>deeper</a:t>
            </a:r>
            <a:r>
              <a:rPr dirty="0" spc="-45"/>
              <a:t> </a:t>
            </a:r>
            <a:r>
              <a:rPr dirty="0" spc="-10"/>
              <a:t>insights.</a:t>
            </a:r>
          </a:p>
          <a:p>
            <a:pPr marL="469900" marR="490855" indent="-313055">
              <a:lnSpc>
                <a:spcPct val="114999"/>
              </a:lnSpc>
              <a:spcBef>
                <a:spcPts val="1200"/>
              </a:spcBef>
              <a:buClr>
                <a:srgbClr val="F9734D"/>
              </a:buClr>
              <a:buFont typeface="Tahoma"/>
              <a:buChar char="●"/>
              <a:tabLst>
                <a:tab pos="469900" algn="l"/>
              </a:tabLst>
            </a:pPr>
            <a:r>
              <a:rPr dirty="0" spc="-60" b="1">
                <a:latin typeface="Tahoma"/>
                <a:cs typeface="Tahoma"/>
              </a:rPr>
              <a:t>Intelligent</a:t>
            </a:r>
            <a:r>
              <a:rPr dirty="0" spc="-25" b="1">
                <a:latin typeface="Tahoma"/>
                <a:cs typeface="Tahoma"/>
              </a:rPr>
              <a:t> </a:t>
            </a:r>
            <a:r>
              <a:rPr dirty="0" spc="-10" b="1">
                <a:latin typeface="Tahoma"/>
                <a:cs typeface="Tahoma"/>
              </a:rPr>
              <a:t>Classification:</a:t>
            </a:r>
            <a:r>
              <a:rPr dirty="0" spc="25" b="1">
                <a:latin typeface="Tahoma"/>
                <a:cs typeface="Tahoma"/>
              </a:rPr>
              <a:t> </a:t>
            </a:r>
            <a:r>
              <a:rPr dirty="0" spc="35"/>
              <a:t>Automatically </a:t>
            </a:r>
            <a:r>
              <a:rPr dirty="0" spc="55"/>
              <a:t>categorizes</a:t>
            </a:r>
            <a:r>
              <a:rPr dirty="0" spc="20"/>
              <a:t> </a:t>
            </a:r>
            <a:r>
              <a:rPr dirty="0" spc="10"/>
              <a:t>resume</a:t>
            </a:r>
            <a:r>
              <a:rPr dirty="0" spc="25"/>
              <a:t> </a:t>
            </a:r>
            <a:r>
              <a:rPr dirty="0" spc="60"/>
              <a:t>sections</a:t>
            </a:r>
            <a:r>
              <a:rPr dirty="0" spc="25"/>
              <a:t> </a:t>
            </a:r>
            <a:r>
              <a:rPr dirty="0" spc="50"/>
              <a:t>and</a:t>
            </a:r>
            <a:r>
              <a:rPr dirty="0" spc="25"/>
              <a:t> </a:t>
            </a:r>
            <a:r>
              <a:rPr dirty="0" spc="-10"/>
              <a:t>identifies </a:t>
            </a:r>
            <a:r>
              <a:rPr dirty="0" spc="10"/>
              <a:t>relevant</a:t>
            </a:r>
            <a:r>
              <a:rPr dirty="0" spc="160"/>
              <a:t> </a:t>
            </a:r>
            <a:r>
              <a:rPr dirty="0" spc="-10"/>
              <a:t>information.</a:t>
            </a:r>
          </a:p>
          <a:p>
            <a:pPr marL="469900" marR="5080" indent="-313055">
              <a:lnSpc>
                <a:spcPct val="114999"/>
              </a:lnSpc>
              <a:buClr>
                <a:srgbClr val="F9734D"/>
              </a:buClr>
              <a:buFont typeface="Tahoma"/>
              <a:buChar char="●"/>
              <a:tabLst>
                <a:tab pos="469900" algn="l"/>
              </a:tabLst>
            </a:pPr>
            <a:r>
              <a:rPr dirty="0" spc="-25" b="1">
                <a:latin typeface="Tahoma"/>
                <a:cs typeface="Tahoma"/>
              </a:rPr>
              <a:t>Context</a:t>
            </a:r>
            <a:r>
              <a:rPr dirty="0" spc="5" b="1">
                <a:latin typeface="Tahoma"/>
                <a:cs typeface="Tahoma"/>
              </a:rPr>
              <a:t> </a:t>
            </a:r>
            <a:r>
              <a:rPr dirty="0" spc="-25" b="1">
                <a:latin typeface="Tahoma"/>
                <a:cs typeface="Tahoma"/>
              </a:rPr>
              <a:t>Understanding:</a:t>
            </a:r>
            <a:r>
              <a:rPr dirty="0" spc="55" b="1">
                <a:latin typeface="Tahoma"/>
                <a:cs typeface="Tahoma"/>
              </a:rPr>
              <a:t> </a:t>
            </a:r>
            <a:r>
              <a:rPr dirty="0" spc="85"/>
              <a:t>Uses</a:t>
            </a:r>
            <a:r>
              <a:rPr dirty="0" spc="25"/>
              <a:t> </a:t>
            </a:r>
            <a:r>
              <a:rPr dirty="0" spc="75"/>
              <a:t>NLP</a:t>
            </a:r>
            <a:r>
              <a:rPr dirty="0" spc="30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interpret</a:t>
            </a:r>
            <a:r>
              <a:rPr dirty="0" spc="30"/>
              <a:t> </a:t>
            </a:r>
            <a:r>
              <a:rPr dirty="0" spc="-25"/>
              <a:t>the </a:t>
            </a:r>
            <a:r>
              <a:rPr dirty="0" spc="45"/>
              <a:t>context</a:t>
            </a:r>
            <a:r>
              <a:rPr dirty="0" spc="5"/>
              <a:t> </a:t>
            </a:r>
            <a:r>
              <a:rPr dirty="0" spc="55"/>
              <a:t>of</a:t>
            </a:r>
            <a:r>
              <a:rPr dirty="0" spc="10"/>
              <a:t> text </a:t>
            </a:r>
            <a:r>
              <a:rPr dirty="0" spc="50"/>
              <a:t>and</a:t>
            </a:r>
            <a:r>
              <a:rPr dirty="0" spc="10"/>
              <a:t> </a:t>
            </a:r>
            <a:r>
              <a:rPr dirty="0" spc="50"/>
              <a:t>accurately</a:t>
            </a:r>
            <a:r>
              <a:rPr dirty="0" spc="10"/>
              <a:t> extract </a:t>
            </a:r>
            <a:r>
              <a:rPr dirty="0" spc="-10"/>
              <a:t>information.</a:t>
            </a:r>
          </a:p>
          <a:p>
            <a:pPr marL="469265" indent="-312420">
              <a:lnSpc>
                <a:spcPct val="100000"/>
              </a:lnSpc>
              <a:spcBef>
                <a:spcPts val="195"/>
              </a:spcBef>
              <a:buClr>
                <a:srgbClr val="F9734D"/>
              </a:buClr>
              <a:buFont typeface="Arial"/>
              <a:buChar char="●"/>
              <a:tabLst>
                <a:tab pos="469265" algn="l"/>
              </a:tabLst>
            </a:pPr>
            <a:r>
              <a:rPr dirty="0" spc="-45" b="1">
                <a:latin typeface="Tahoma"/>
                <a:cs typeface="Tahoma"/>
              </a:rPr>
              <a:t>Data</a:t>
            </a:r>
            <a:r>
              <a:rPr dirty="0" spc="-60" b="1">
                <a:latin typeface="Tahoma"/>
                <a:cs typeface="Tahoma"/>
              </a:rPr>
              <a:t> </a:t>
            </a:r>
            <a:r>
              <a:rPr dirty="0" spc="-10" b="1">
                <a:latin typeface="Tahoma"/>
                <a:cs typeface="Tahoma"/>
              </a:rPr>
              <a:t>Enrichment:</a:t>
            </a:r>
          </a:p>
          <a:p>
            <a:pPr lvl="1" marL="927100" marR="37465" indent="-313055">
              <a:lnSpc>
                <a:spcPct val="114999"/>
              </a:lnSpc>
              <a:buClr>
                <a:srgbClr val="F9734D"/>
              </a:buClr>
              <a:buFont typeface="Tahoma"/>
              <a:buChar char="○"/>
              <a:tabLst>
                <a:tab pos="927100" algn="l"/>
              </a:tabLst>
            </a:pPr>
            <a:r>
              <a:rPr dirty="0" sz="1100" spc="-10" b="1">
                <a:solidFill>
                  <a:srgbClr val="134D57"/>
                </a:solidFill>
                <a:latin typeface="Tahoma"/>
                <a:cs typeface="Tahoma"/>
              </a:rPr>
              <a:t>Company</a:t>
            </a:r>
            <a:r>
              <a:rPr dirty="0" sz="1100" spc="50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4D57"/>
                </a:solidFill>
                <a:latin typeface="Tahoma"/>
                <a:cs typeface="Tahoma"/>
              </a:rPr>
              <a:t>Lookups:</a:t>
            </a:r>
            <a:r>
              <a:rPr dirty="0" sz="1100" spc="110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Integrates</a:t>
            </a:r>
            <a:r>
              <a:rPr dirty="0" sz="1100" spc="7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with</a:t>
            </a:r>
            <a:r>
              <a:rPr dirty="0" sz="1100" spc="8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APIs</a:t>
            </a:r>
            <a:r>
              <a:rPr dirty="0" sz="1100" spc="7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134D57"/>
                </a:solidFill>
                <a:latin typeface="Tahoma"/>
                <a:cs typeface="Tahoma"/>
              </a:rPr>
              <a:t>to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fetch</a:t>
            </a:r>
            <a:r>
              <a:rPr dirty="0" sz="1100" spc="1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company</a:t>
            </a:r>
            <a:r>
              <a:rPr dirty="0" sz="1100" spc="1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details</a:t>
            </a:r>
            <a:r>
              <a:rPr dirty="0" sz="1100" spc="1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(size,</a:t>
            </a:r>
            <a:r>
              <a:rPr dirty="0" sz="1100" spc="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industry).</a:t>
            </a:r>
            <a:endParaRPr sz="1100">
              <a:latin typeface="Tahoma"/>
              <a:cs typeface="Tahoma"/>
            </a:endParaRPr>
          </a:p>
          <a:p>
            <a:pPr lvl="1" marL="927100" marR="32384" indent="-313055">
              <a:lnSpc>
                <a:spcPct val="114999"/>
              </a:lnSpc>
              <a:buClr>
                <a:srgbClr val="F9734D"/>
              </a:buClr>
              <a:buFont typeface="Tahoma"/>
              <a:buChar char="○"/>
              <a:tabLst>
                <a:tab pos="927100" algn="l"/>
              </a:tabLst>
            </a:pPr>
            <a:r>
              <a:rPr dirty="0" sz="1100" spc="-35" b="1">
                <a:solidFill>
                  <a:srgbClr val="134D57"/>
                </a:solidFill>
                <a:latin typeface="Tahoma"/>
                <a:cs typeface="Tahoma"/>
              </a:rPr>
              <a:t>Skill</a:t>
            </a:r>
            <a:r>
              <a:rPr dirty="0" sz="1100" spc="-50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30" b="1">
                <a:solidFill>
                  <a:srgbClr val="134D57"/>
                </a:solidFill>
                <a:latin typeface="Tahoma"/>
                <a:cs typeface="Tahoma"/>
              </a:rPr>
              <a:t>Normalization:</a:t>
            </a:r>
            <a:r>
              <a:rPr dirty="0" sz="1100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Standardizes</a:t>
            </a:r>
            <a:r>
              <a:rPr dirty="0" sz="1100" spc="-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skill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entries</a:t>
            </a:r>
            <a:r>
              <a:rPr dirty="0" sz="1100" spc="-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(e.g.,</a:t>
            </a:r>
            <a:r>
              <a:rPr dirty="0" sz="1100" spc="-4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"Python"</a:t>
            </a:r>
            <a:r>
              <a:rPr dirty="0" sz="1100" spc="-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instead</a:t>
            </a:r>
            <a:r>
              <a:rPr dirty="0" sz="1100" spc="-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of</a:t>
            </a:r>
            <a:r>
              <a:rPr dirty="0" sz="1100" spc="-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"python," 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"Python</a:t>
            </a:r>
            <a:r>
              <a:rPr dirty="0" sz="1100" spc="-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programming").</a:t>
            </a:r>
            <a:endParaRPr sz="1100">
              <a:latin typeface="Tahoma"/>
              <a:cs typeface="Tahoma"/>
            </a:endParaRPr>
          </a:p>
          <a:p>
            <a:pPr lvl="1" marL="927100" marR="29845" indent="-313055">
              <a:lnSpc>
                <a:spcPct val="114999"/>
              </a:lnSpc>
              <a:buClr>
                <a:srgbClr val="F9734D"/>
              </a:buClr>
              <a:buFont typeface="Tahoma"/>
              <a:buChar char="○"/>
              <a:tabLst>
                <a:tab pos="927100" algn="l"/>
              </a:tabLst>
            </a:pPr>
            <a:r>
              <a:rPr dirty="0" sz="1100" spc="-10" b="1">
                <a:solidFill>
                  <a:srgbClr val="134D57"/>
                </a:solidFill>
                <a:latin typeface="Tahoma"/>
                <a:cs typeface="Tahoma"/>
              </a:rPr>
              <a:t>Career</a:t>
            </a:r>
            <a:r>
              <a:rPr dirty="0" sz="1100" spc="-55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134D57"/>
                </a:solidFill>
                <a:latin typeface="Tahoma"/>
                <a:cs typeface="Tahoma"/>
              </a:rPr>
              <a:t>Analysis:</a:t>
            </a:r>
            <a:r>
              <a:rPr dirty="0" sz="1100" spc="-20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Predicts</a:t>
            </a:r>
            <a:r>
              <a:rPr dirty="0" sz="1100" spc="-4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career</a:t>
            </a:r>
            <a:r>
              <a:rPr dirty="0" sz="1100" spc="-4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trajectory </a:t>
            </a:r>
            <a:r>
              <a:rPr dirty="0" sz="1100" spc="70">
                <a:solidFill>
                  <a:srgbClr val="134D57"/>
                </a:solidFill>
                <a:latin typeface="Tahoma"/>
                <a:cs typeface="Tahoma"/>
              </a:rPr>
              <a:t>based</a:t>
            </a:r>
            <a:r>
              <a:rPr dirty="0" sz="1100" spc="-5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on</a:t>
            </a:r>
            <a:r>
              <a:rPr dirty="0" sz="1100" spc="-5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historical</a:t>
            </a:r>
            <a:r>
              <a:rPr dirty="0" sz="1100" spc="-5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data.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166699" cy="51435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24575" y="507889"/>
            <a:ext cx="3775710" cy="140906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380365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System</a:t>
            </a:r>
            <a:r>
              <a:rPr dirty="0" spc="-105"/>
              <a:t> </a:t>
            </a:r>
            <a:r>
              <a:rPr dirty="0" spc="-20"/>
              <a:t>Architecture</a:t>
            </a:r>
            <a:r>
              <a:rPr dirty="0" spc="-80"/>
              <a:t> </a:t>
            </a:r>
            <a:r>
              <a:rPr dirty="0" spc="-395"/>
              <a:t>&amp;</a:t>
            </a:r>
            <a:r>
              <a:rPr dirty="0" spc="-140"/>
              <a:t> </a:t>
            </a:r>
            <a:r>
              <a:rPr dirty="0" spc="-40"/>
              <a:t>Tech </a:t>
            </a:r>
            <a:r>
              <a:rPr dirty="0" spc="-10"/>
              <a:t>Stack</a:t>
            </a:r>
          </a:p>
          <a:p>
            <a:pPr marL="12700" marR="5080">
              <a:lnSpc>
                <a:spcPct val="114999"/>
              </a:lnSpc>
              <a:spcBef>
                <a:spcPts val="20"/>
              </a:spcBef>
            </a:pPr>
            <a:r>
              <a:rPr dirty="0" sz="1100" spc="60" b="0">
                <a:latin typeface="Tahoma"/>
                <a:cs typeface="Tahoma"/>
              </a:rPr>
              <a:t>System</a:t>
            </a:r>
            <a:r>
              <a:rPr dirty="0" sz="1100" spc="75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Diagram:</a:t>
            </a:r>
            <a:r>
              <a:rPr dirty="0" sz="1100" spc="75" b="0">
                <a:latin typeface="Tahoma"/>
                <a:cs typeface="Tahoma"/>
              </a:rPr>
              <a:t> </a:t>
            </a:r>
            <a:r>
              <a:rPr dirty="0" sz="1100" spc="-95" b="0">
                <a:latin typeface="Tahoma"/>
                <a:cs typeface="Tahoma"/>
              </a:rPr>
              <a:t>Note:</a:t>
            </a:r>
            <a:r>
              <a:rPr dirty="0" sz="1100" spc="75" b="0">
                <a:latin typeface="Tahoma"/>
                <a:cs typeface="Tahoma"/>
              </a:rPr>
              <a:t> </a:t>
            </a:r>
            <a:r>
              <a:rPr dirty="0" sz="1100" spc="-40" b="0">
                <a:latin typeface="Tahoma"/>
                <a:cs typeface="Tahoma"/>
              </a:rPr>
              <a:t>In</a:t>
            </a:r>
            <a:r>
              <a:rPr dirty="0" sz="1100" spc="75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a</a:t>
            </a:r>
            <a:r>
              <a:rPr dirty="0" sz="1100" spc="75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real</a:t>
            </a:r>
            <a:r>
              <a:rPr dirty="0" sz="1100" spc="75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presentation,</a:t>
            </a:r>
            <a:r>
              <a:rPr dirty="0" sz="1100" spc="65" b="0">
                <a:latin typeface="Tahoma"/>
                <a:cs typeface="Tahoma"/>
              </a:rPr>
              <a:t> </a:t>
            </a:r>
            <a:r>
              <a:rPr dirty="0" sz="1100" spc="-20" b="0">
                <a:latin typeface="Tahoma"/>
                <a:cs typeface="Tahoma"/>
              </a:rPr>
              <a:t>this </a:t>
            </a:r>
            <a:r>
              <a:rPr dirty="0" sz="1100" spc="55" b="0">
                <a:latin typeface="Tahoma"/>
                <a:cs typeface="Tahoma"/>
              </a:rPr>
              <a:t>section</a:t>
            </a:r>
            <a:r>
              <a:rPr dirty="0" sz="1100" spc="10" b="0">
                <a:latin typeface="Tahoma"/>
                <a:cs typeface="Tahoma"/>
              </a:rPr>
              <a:t> </a:t>
            </a:r>
            <a:r>
              <a:rPr dirty="0" sz="1100" spc="50" b="0">
                <a:latin typeface="Tahoma"/>
                <a:cs typeface="Tahoma"/>
              </a:rPr>
              <a:t>would</a:t>
            </a:r>
            <a:r>
              <a:rPr dirty="0" sz="1100" spc="10" b="0">
                <a:latin typeface="Tahoma"/>
                <a:cs typeface="Tahoma"/>
              </a:rPr>
              <a:t> </a:t>
            </a:r>
            <a:r>
              <a:rPr dirty="0" sz="1100" spc="50" b="0">
                <a:latin typeface="Tahoma"/>
                <a:cs typeface="Tahoma"/>
              </a:rPr>
              <a:t>include</a:t>
            </a:r>
            <a:r>
              <a:rPr dirty="0" sz="1100" spc="10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a</a:t>
            </a:r>
            <a:r>
              <a:rPr dirty="0" sz="1100" spc="10" b="0">
                <a:latin typeface="Tahoma"/>
                <a:cs typeface="Tahoma"/>
              </a:rPr>
              <a:t> </a:t>
            </a:r>
            <a:r>
              <a:rPr dirty="0" sz="1100" spc="50" b="0">
                <a:latin typeface="Tahoma"/>
                <a:cs typeface="Tahoma"/>
              </a:rPr>
              <a:t>visual</a:t>
            </a:r>
            <a:r>
              <a:rPr dirty="0" sz="1100" spc="15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diagram</a:t>
            </a:r>
            <a:r>
              <a:rPr dirty="0" sz="1100" spc="10" b="0">
                <a:latin typeface="Tahoma"/>
                <a:cs typeface="Tahoma"/>
              </a:rPr>
              <a:t> </a:t>
            </a:r>
            <a:r>
              <a:rPr dirty="0" sz="1100" spc="55" b="0">
                <a:latin typeface="Tahoma"/>
                <a:cs typeface="Tahoma"/>
              </a:rPr>
              <a:t>showing</a:t>
            </a:r>
            <a:r>
              <a:rPr dirty="0" sz="1100" spc="10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the</a:t>
            </a:r>
            <a:r>
              <a:rPr dirty="0" sz="1100" spc="10" b="0">
                <a:latin typeface="Tahoma"/>
                <a:cs typeface="Tahoma"/>
              </a:rPr>
              <a:t> </a:t>
            </a:r>
            <a:r>
              <a:rPr dirty="0" sz="1100" spc="35" b="0">
                <a:latin typeface="Tahoma"/>
                <a:cs typeface="Tahoma"/>
              </a:rPr>
              <a:t>flow </a:t>
            </a:r>
            <a:r>
              <a:rPr dirty="0" sz="1100" spc="55" b="0">
                <a:latin typeface="Tahoma"/>
                <a:cs typeface="Tahoma"/>
              </a:rPr>
              <a:t>of</a:t>
            </a:r>
            <a:r>
              <a:rPr dirty="0" sz="1100" spc="45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data</a:t>
            </a:r>
            <a:r>
              <a:rPr dirty="0" sz="1100" spc="50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from</a:t>
            </a:r>
            <a:r>
              <a:rPr dirty="0" sz="1100" spc="45" b="0">
                <a:latin typeface="Tahoma"/>
                <a:cs typeface="Tahoma"/>
              </a:rPr>
              <a:t> </a:t>
            </a:r>
            <a:r>
              <a:rPr dirty="0" sz="1100" spc="55" b="0">
                <a:latin typeface="Tahoma"/>
                <a:cs typeface="Tahoma"/>
              </a:rPr>
              <a:t>document</a:t>
            </a:r>
            <a:r>
              <a:rPr dirty="0" sz="1100" spc="50" b="0">
                <a:latin typeface="Tahoma"/>
                <a:cs typeface="Tahoma"/>
              </a:rPr>
              <a:t> upload</a:t>
            </a:r>
            <a:r>
              <a:rPr dirty="0" sz="1100" spc="45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to</a:t>
            </a:r>
            <a:r>
              <a:rPr dirty="0" sz="1100" spc="50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final</a:t>
            </a:r>
            <a:r>
              <a:rPr dirty="0" sz="1100" spc="50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output.</a:t>
            </a:r>
            <a:r>
              <a:rPr dirty="0" sz="1100" spc="35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Due</a:t>
            </a:r>
            <a:r>
              <a:rPr dirty="0" sz="1100" spc="45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to</a:t>
            </a:r>
            <a:r>
              <a:rPr dirty="0" sz="1100" spc="50" b="0">
                <a:latin typeface="Tahoma"/>
                <a:cs typeface="Tahoma"/>
              </a:rPr>
              <a:t> </a:t>
            </a:r>
            <a:r>
              <a:rPr dirty="0" sz="1100" spc="-25" b="0">
                <a:latin typeface="Tahoma"/>
                <a:cs typeface="Tahoma"/>
              </a:rPr>
              <a:t>the </a:t>
            </a:r>
            <a:r>
              <a:rPr dirty="0" sz="1100" b="0">
                <a:latin typeface="Tahoma"/>
                <a:cs typeface="Tahoma"/>
              </a:rPr>
              <a:t>text-</a:t>
            </a:r>
            <a:r>
              <a:rPr dirty="0" sz="1100" spc="65" b="0">
                <a:latin typeface="Tahoma"/>
                <a:cs typeface="Tahoma"/>
              </a:rPr>
              <a:t>only </a:t>
            </a:r>
            <a:r>
              <a:rPr dirty="0" sz="1100" b="0">
                <a:latin typeface="Tahoma"/>
                <a:cs typeface="Tahoma"/>
              </a:rPr>
              <a:t>format,</a:t>
            </a:r>
            <a:r>
              <a:rPr dirty="0" sz="1100" spc="55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this</a:t>
            </a:r>
            <a:r>
              <a:rPr dirty="0" sz="1100" spc="65" b="0">
                <a:latin typeface="Tahoma"/>
                <a:cs typeface="Tahoma"/>
              </a:rPr>
              <a:t> </a:t>
            </a:r>
            <a:r>
              <a:rPr dirty="0" sz="1100" b="0">
                <a:latin typeface="Tahoma"/>
                <a:cs typeface="Tahoma"/>
              </a:rPr>
              <a:t>part</a:t>
            </a:r>
            <a:r>
              <a:rPr dirty="0" sz="1100" spc="65" b="0">
                <a:latin typeface="Tahoma"/>
                <a:cs typeface="Tahoma"/>
              </a:rPr>
              <a:t> </a:t>
            </a:r>
            <a:r>
              <a:rPr dirty="0" sz="1100" spc="60" b="0">
                <a:latin typeface="Tahoma"/>
                <a:cs typeface="Tahoma"/>
              </a:rPr>
              <a:t>is</a:t>
            </a:r>
            <a:r>
              <a:rPr dirty="0" sz="1100" spc="70" b="0">
                <a:latin typeface="Tahoma"/>
                <a:cs typeface="Tahoma"/>
              </a:rPr>
              <a:t> </a:t>
            </a:r>
            <a:r>
              <a:rPr dirty="0" sz="1100" spc="60" b="0">
                <a:latin typeface="Tahoma"/>
                <a:cs typeface="Tahoma"/>
              </a:rPr>
              <a:t>described</a:t>
            </a:r>
            <a:r>
              <a:rPr dirty="0" sz="1100" spc="65" b="0">
                <a:latin typeface="Tahoma"/>
                <a:cs typeface="Tahoma"/>
              </a:rPr>
              <a:t> </a:t>
            </a:r>
            <a:r>
              <a:rPr dirty="0" sz="1100" spc="-10" b="0">
                <a:latin typeface="Tahoma"/>
                <a:cs typeface="Tahoma"/>
              </a:rPr>
              <a:t>below.]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68855" y="2043760"/>
            <a:ext cx="3614420" cy="233934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295"/>
              </a:spcBef>
              <a:buClr>
                <a:srgbClr val="F9734D"/>
              </a:buClr>
              <a:buChar char="●"/>
              <a:tabLst>
                <a:tab pos="325120" algn="l"/>
              </a:tabLst>
            </a:pP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Document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Upload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134D57"/>
                </a:solidFill>
                <a:latin typeface="Tahoma"/>
                <a:cs typeface="Tahoma"/>
              </a:rPr>
              <a:t>→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 Pre-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processing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225">
                <a:solidFill>
                  <a:srgbClr val="134D57"/>
                </a:solidFill>
                <a:latin typeface="Tahoma"/>
                <a:cs typeface="Tahoma"/>
              </a:rPr>
              <a:t>s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Validation</a:t>
            </a:r>
            <a:endParaRPr sz="1100">
              <a:latin typeface="Tahoma"/>
              <a:cs typeface="Tahoma"/>
            </a:endParaRPr>
          </a:p>
          <a:p>
            <a:pPr marL="325120" marR="5080">
              <a:lnSpc>
                <a:spcPct val="114999"/>
              </a:lnSpc>
            </a:pPr>
            <a:r>
              <a:rPr dirty="0" sz="1100" spc="-55">
                <a:solidFill>
                  <a:srgbClr val="134D57"/>
                </a:solidFill>
                <a:latin typeface="Tahoma"/>
                <a:cs typeface="Tahoma"/>
              </a:rPr>
              <a:t>→</a:t>
            </a:r>
            <a:r>
              <a:rPr dirty="0" sz="1100" spc="1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Data</a:t>
            </a:r>
            <a:r>
              <a:rPr dirty="0" sz="1100" spc="1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Extraction</a:t>
            </a:r>
            <a:r>
              <a:rPr dirty="0" sz="1100" spc="1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(AI/NLP)</a:t>
            </a:r>
            <a:r>
              <a:rPr dirty="0" sz="1100" spc="1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134D57"/>
                </a:solidFill>
                <a:latin typeface="Tahoma"/>
                <a:cs typeface="Tahoma"/>
              </a:rPr>
              <a:t>→</a:t>
            </a:r>
            <a:r>
              <a:rPr dirty="0" sz="1100" spc="1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Data</a:t>
            </a:r>
            <a:r>
              <a:rPr dirty="0" sz="1100" spc="1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Enrichment</a:t>
            </a:r>
            <a:r>
              <a:rPr dirty="0" sz="1100" spc="1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134D57"/>
                </a:solidFill>
                <a:latin typeface="Tahoma"/>
                <a:cs typeface="Tahoma"/>
              </a:rPr>
              <a:t>→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Database</a:t>
            </a:r>
            <a:r>
              <a:rPr dirty="0" sz="1100" spc="-4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Storage</a:t>
            </a:r>
            <a:r>
              <a:rPr dirty="0" sz="1100" spc="-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134D57"/>
                </a:solidFill>
                <a:latin typeface="Tahoma"/>
                <a:cs typeface="Tahoma"/>
              </a:rPr>
              <a:t>→</a:t>
            </a:r>
            <a:r>
              <a:rPr dirty="0" sz="1100" spc="-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API</a:t>
            </a:r>
            <a:r>
              <a:rPr dirty="0" sz="1100" spc="-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85">
                <a:solidFill>
                  <a:srgbClr val="134D57"/>
                </a:solidFill>
                <a:latin typeface="Tahoma"/>
                <a:cs typeface="Tahoma"/>
              </a:rPr>
              <a:t>Access</a:t>
            </a:r>
            <a:endParaRPr sz="1100">
              <a:latin typeface="Tahoma"/>
              <a:cs typeface="Tahoma"/>
            </a:endParaRPr>
          </a:p>
          <a:p>
            <a:pPr marL="325120" indent="-312420">
              <a:lnSpc>
                <a:spcPct val="100000"/>
              </a:lnSpc>
              <a:spcBef>
                <a:spcPts val="200"/>
              </a:spcBef>
              <a:buClr>
                <a:srgbClr val="F9734D"/>
              </a:buClr>
              <a:buChar char="●"/>
              <a:tabLst>
                <a:tab pos="325120" algn="l"/>
              </a:tabLst>
            </a:pPr>
            <a:r>
              <a:rPr dirty="0" sz="1100" spc="65">
                <a:solidFill>
                  <a:srgbClr val="134D57"/>
                </a:solidFill>
                <a:latin typeface="Tahoma"/>
                <a:cs typeface="Tahoma"/>
              </a:rPr>
              <a:t>Core</a:t>
            </a:r>
            <a:r>
              <a:rPr dirty="0" sz="1100" spc="-5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Technologies:</a:t>
            </a:r>
            <a:endParaRPr sz="1100">
              <a:latin typeface="Tahoma"/>
              <a:cs typeface="Tahoma"/>
            </a:endParaRPr>
          </a:p>
          <a:p>
            <a:pPr marL="325120" marR="396875" indent="-313055">
              <a:lnSpc>
                <a:spcPct val="114999"/>
              </a:lnSpc>
              <a:buClr>
                <a:srgbClr val="F9734D"/>
              </a:buClr>
              <a:buFont typeface="Tahoma"/>
              <a:buChar char="●"/>
              <a:tabLst>
                <a:tab pos="325120" algn="l"/>
              </a:tabLst>
            </a:pPr>
            <a:r>
              <a:rPr dirty="0" sz="1100" spc="-70" b="1">
                <a:solidFill>
                  <a:srgbClr val="134D57"/>
                </a:solidFill>
                <a:latin typeface="Tahoma"/>
                <a:cs typeface="Tahoma"/>
              </a:rPr>
              <a:t>AI/ML:</a:t>
            </a:r>
            <a:r>
              <a:rPr dirty="0" sz="1100" spc="160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TensorFlow,</a:t>
            </a:r>
            <a:r>
              <a:rPr dirty="0" sz="1100" spc="12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PyTorch,</a:t>
            </a:r>
            <a:r>
              <a:rPr dirty="0" sz="1100" spc="12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Hugging</a:t>
            </a:r>
            <a:r>
              <a:rPr dirty="0" sz="1100" spc="14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Face 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Transformers,</a:t>
            </a:r>
            <a:r>
              <a:rPr dirty="0" sz="1100" spc="4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134D57"/>
                </a:solidFill>
                <a:latin typeface="Tahoma"/>
                <a:cs typeface="Tahoma"/>
              </a:rPr>
              <a:t>OpenAI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134D57"/>
                </a:solidFill>
                <a:latin typeface="Tahoma"/>
                <a:cs typeface="Tahoma"/>
              </a:rPr>
              <a:t>API</a:t>
            </a:r>
            <a:endParaRPr sz="1100">
              <a:latin typeface="Tahoma"/>
              <a:cs typeface="Tahoma"/>
            </a:endParaRPr>
          </a:p>
          <a:p>
            <a:pPr marL="325120" marR="283210" indent="-313055">
              <a:lnSpc>
                <a:spcPct val="114999"/>
              </a:lnSpc>
              <a:buClr>
                <a:srgbClr val="F9734D"/>
              </a:buClr>
              <a:buFont typeface="Tahoma"/>
              <a:buChar char="●"/>
              <a:tabLst>
                <a:tab pos="325120" algn="l"/>
              </a:tabLst>
            </a:pPr>
            <a:r>
              <a:rPr dirty="0" sz="1100" spc="-10" b="1">
                <a:solidFill>
                  <a:srgbClr val="134D57"/>
                </a:solidFill>
                <a:latin typeface="Tahoma"/>
                <a:cs typeface="Tahoma"/>
              </a:rPr>
              <a:t>Backend:</a:t>
            </a:r>
            <a:r>
              <a:rPr dirty="0" sz="1100" spc="140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FastAPI</a:t>
            </a:r>
            <a:r>
              <a:rPr dirty="0" sz="1100" spc="1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(Python),</a:t>
            </a:r>
            <a:r>
              <a:rPr dirty="0" sz="1100" spc="11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Django</a:t>
            </a:r>
            <a:r>
              <a:rPr dirty="0" sz="1100" spc="1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(Python), Node.js</a:t>
            </a:r>
            <a:endParaRPr sz="1100">
              <a:latin typeface="Tahoma"/>
              <a:cs typeface="Tahoma"/>
            </a:endParaRPr>
          </a:p>
          <a:p>
            <a:pPr marL="325120" indent="-312420">
              <a:lnSpc>
                <a:spcPct val="100000"/>
              </a:lnSpc>
              <a:spcBef>
                <a:spcPts val="195"/>
              </a:spcBef>
              <a:buClr>
                <a:srgbClr val="F9734D"/>
              </a:buClr>
              <a:buFont typeface="Tahoma"/>
              <a:buChar char="●"/>
              <a:tabLst>
                <a:tab pos="325120" algn="l"/>
              </a:tabLst>
            </a:pPr>
            <a:r>
              <a:rPr dirty="0" sz="1100" spc="-25" b="1">
                <a:solidFill>
                  <a:srgbClr val="134D57"/>
                </a:solidFill>
                <a:latin typeface="Tahoma"/>
                <a:cs typeface="Tahoma"/>
              </a:rPr>
              <a:t>Database:</a:t>
            </a:r>
            <a:r>
              <a:rPr dirty="0" sz="1100" spc="-20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PostgreSQL,</a:t>
            </a:r>
            <a:r>
              <a:rPr dirty="0" sz="1100" spc="-5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MongoDB</a:t>
            </a:r>
            <a:endParaRPr sz="1100">
              <a:latin typeface="Tahoma"/>
              <a:cs typeface="Tahoma"/>
            </a:endParaRPr>
          </a:p>
          <a:p>
            <a:pPr marL="325120" indent="-312420">
              <a:lnSpc>
                <a:spcPct val="100000"/>
              </a:lnSpc>
              <a:spcBef>
                <a:spcPts val="200"/>
              </a:spcBef>
              <a:buClr>
                <a:srgbClr val="F9734D"/>
              </a:buClr>
              <a:buFont typeface="Tahoma"/>
              <a:buChar char="●"/>
              <a:tabLst>
                <a:tab pos="325120" algn="l"/>
              </a:tabLst>
            </a:pPr>
            <a:r>
              <a:rPr dirty="0" sz="1100" spc="-10" b="1">
                <a:solidFill>
                  <a:srgbClr val="134D57"/>
                </a:solidFill>
                <a:latin typeface="Tahoma"/>
                <a:cs typeface="Tahoma"/>
              </a:rPr>
              <a:t>Processing</a:t>
            </a:r>
            <a:r>
              <a:rPr dirty="0" sz="1100" spc="-45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4D57"/>
                </a:solidFill>
                <a:latin typeface="Tahoma"/>
                <a:cs typeface="Tahoma"/>
              </a:rPr>
              <a:t>Tools:</a:t>
            </a:r>
            <a:r>
              <a:rPr dirty="0" sz="1100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134D57"/>
                </a:solidFill>
                <a:latin typeface="Tahoma"/>
                <a:cs typeface="Tahoma"/>
              </a:rPr>
              <a:t>PyPDF2,</a:t>
            </a:r>
            <a:r>
              <a:rPr dirty="0" sz="1100" spc="-3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134D57"/>
                </a:solidFill>
                <a:latin typeface="Tahoma"/>
                <a:cs typeface="Tahoma"/>
              </a:rPr>
              <a:t>Tesseract</a:t>
            </a:r>
            <a:r>
              <a:rPr dirty="0" sz="1100" spc="-3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134D57"/>
                </a:solidFill>
                <a:latin typeface="Tahoma"/>
                <a:cs typeface="Tahoma"/>
              </a:rPr>
              <a:t>OCR</a:t>
            </a:r>
            <a:endParaRPr sz="1100">
              <a:latin typeface="Tahoma"/>
              <a:cs typeface="Tahoma"/>
            </a:endParaRPr>
          </a:p>
          <a:p>
            <a:pPr marL="325120" marR="564515" indent="-313055">
              <a:lnSpc>
                <a:spcPct val="114999"/>
              </a:lnSpc>
              <a:buClr>
                <a:srgbClr val="F9734D"/>
              </a:buClr>
              <a:buFont typeface="Tahoma"/>
              <a:buChar char="●"/>
              <a:tabLst>
                <a:tab pos="325120" algn="l"/>
              </a:tabLst>
            </a:pPr>
            <a:r>
              <a:rPr dirty="0" sz="1100" spc="-30" b="1">
                <a:solidFill>
                  <a:srgbClr val="134D57"/>
                </a:solidFill>
                <a:latin typeface="Tahoma"/>
                <a:cs typeface="Tahoma"/>
              </a:rPr>
              <a:t>Deployment:</a:t>
            </a:r>
            <a:r>
              <a:rPr dirty="0" sz="1100" spc="40" b="1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Docker,</a:t>
            </a:r>
            <a:r>
              <a:rPr dirty="0" sz="1100" spc="1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134D57"/>
                </a:solidFill>
                <a:latin typeface="Tahoma"/>
                <a:cs typeface="Tahoma"/>
              </a:rPr>
              <a:t>Swagger</a:t>
            </a:r>
            <a:r>
              <a:rPr dirty="0" sz="1100" spc="15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UI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4D57"/>
                </a:solidFill>
                <a:latin typeface="Tahoma"/>
                <a:cs typeface="Tahoma"/>
              </a:rPr>
              <a:t>for</a:t>
            </a:r>
            <a:r>
              <a:rPr dirty="0" sz="1100" spc="20">
                <a:solidFill>
                  <a:srgbClr val="134D57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134D57"/>
                </a:solidFill>
                <a:latin typeface="Tahoma"/>
                <a:cs typeface="Tahoma"/>
              </a:rPr>
              <a:t>API </a:t>
            </a:r>
            <a:r>
              <a:rPr dirty="0" sz="1100" spc="-10">
                <a:solidFill>
                  <a:srgbClr val="134D57"/>
                </a:solidFill>
                <a:latin typeface="Tahoma"/>
                <a:cs typeface="Tahoma"/>
              </a:rPr>
              <a:t>documentation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Resume Parser</dc:title>
  <dcterms:created xsi:type="dcterms:W3CDTF">2025-11-04T11:37:29Z</dcterms:created>
  <dcterms:modified xsi:type="dcterms:W3CDTF">2025-11-04T11:37:29Z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2025-11-04T00:00:00Z</vt:filetime>
  </property>
</Properties>
</file>